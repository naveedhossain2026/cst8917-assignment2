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4545DE-CCAE-4B32-9F0D-19459576A4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4F089-070B-4142-B622-DFA56D8835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525A3-9D85-48ED-8D60-EABB6AC43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927BF0-C0FE-4A60-843B-0FB777AC2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810131-45DB-4B8A-BAFA-AD18E8CE39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B40E75-762D-4006-A149-165AC6A43B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8AFDA9-BCE2-4758-99A6-A05BDBEE70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54CB8B-60D3-4587-9DCA-B2A3120D54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E2275-CB06-45C2-A813-8231F97DD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233172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Expense Approval Workflow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32461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A33D"/>
                </a:solidFill>
                <a:effectLst/>
                <a:uFillTx/>
                <a:latin typeface="Arial"/>
                <a:ea typeface="Arial"/>
              </a:rPr>
              <a:t>Durable Functions vs. Logic Apps + Service Bus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406908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7D0DE"/>
                </a:solidFill>
                <a:effectLst/>
                <a:uFillTx/>
                <a:latin typeface="Arial"/>
                <a:ea typeface="Arial"/>
              </a:rPr>
              <a:t>Your Name Here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0DE"/>
                </a:solidFill>
                <a:effectLst/>
                <a:uFillTx/>
                <a:latin typeface="Arial"/>
                <a:ea typeface="Arial"/>
              </a:rPr>
              <a:t>Student Number  |  CST8917 — Serverless Applications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D0DE"/>
                </a:solidFill>
                <a:effectLst/>
                <a:uFillTx/>
                <a:latin typeface="Arial"/>
                <a:ea typeface="Arial"/>
              </a:rPr>
              <a:t>Spring/Summer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Introduction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48640" y="868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The expense approval pipeline both versions implement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141732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548640" y="141732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2240280" y="141732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Employee name/email, amount, category, description, manager email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548640" y="224028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548640" y="224028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2240280" y="224028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Reject requests missing fields or using an invalid category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548640" y="306324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48640" y="306324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Auto-Approve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2240280" y="306324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Expenses under $100 need no manager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548640" y="388620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548640" y="388620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Manager Approval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2240280" y="388620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Expenses ≥ $100 wait for a manager decision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548640" y="470916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548640" y="470916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2240280" y="470916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No response in time → auto-approve and flag as escalated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548640" y="5532120"/>
            <a:ext cx="1554120" cy="685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548640" y="553212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Notification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2240280" y="553212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Employee always receives the final outcome by email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7726680" y="1371600"/>
            <a:ext cx="4114440" cy="489168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7909560" y="15087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Flow at a glance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7909560" y="192024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8001000" y="192024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Request received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9784080" y="246888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7909560" y="267012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2E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/>
          <p:cNvSpPr/>
          <p:nvPr/>
        </p:nvSpPr>
        <p:spPr>
          <a:xfrm>
            <a:off x="8001000" y="26701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Validate fields &amp; category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9784080" y="321876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0"/>
          <p:cNvSpPr/>
          <p:nvPr/>
        </p:nvSpPr>
        <p:spPr>
          <a:xfrm>
            <a:off x="7909560" y="342000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/>
          <p:cNvSpPr/>
          <p:nvPr/>
        </p:nvSpPr>
        <p:spPr>
          <a:xfrm>
            <a:off x="8001000" y="34200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 $100 ?  →  auto-approve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/>
          <p:cNvSpPr/>
          <p:nvPr/>
        </p:nvSpPr>
        <p:spPr>
          <a:xfrm>
            <a:off x="9784080" y="39686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3"/>
          <p:cNvSpPr/>
          <p:nvPr/>
        </p:nvSpPr>
        <p:spPr>
          <a:xfrm>
            <a:off x="7909560" y="416952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/>
          <p:cNvSpPr/>
          <p:nvPr/>
        </p:nvSpPr>
        <p:spPr>
          <a:xfrm>
            <a:off x="8001000" y="41695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≥ $100 → wait for manager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/>
          <p:cNvSpPr/>
          <p:nvPr/>
        </p:nvSpPr>
        <p:spPr>
          <a:xfrm>
            <a:off x="9784080" y="471816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7909560" y="491940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D96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8001000" y="49194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Timeout → escalate &amp; 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8"/>
          <p:cNvSpPr/>
          <p:nvPr/>
        </p:nvSpPr>
        <p:spPr>
          <a:xfrm>
            <a:off x="9784080" y="54680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9"/>
          <p:cNvSpPr/>
          <p:nvPr/>
        </p:nvSpPr>
        <p:spPr>
          <a:xfrm>
            <a:off x="7909560" y="5669280"/>
            <a:ext cx="3748680" cy="548280"/>
          </a:xfrm>
          <a:prstGeom prst="roundRect">
            <a:avLst>
              <a:gd name="adj" fmla="val 11667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0"/>
          <p:cNvSpPr/>
          <p:nvPr/>
        </p:nvSpPr>
        <p:spPr>
          <a:xfrm>
            <a:off x="8001000" y="56692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Notify employee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48640" y="3657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Version A — Durable Functions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548640" y="868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Code-first orchestration, Python v2 programming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548640" y="1691640"/>
            <a:ext cx="1919880" cy="77688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621720" y="1691640"/>
            <a:ext cx="1773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HTTP Client Fn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POST /expenses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2514600" y="192024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063240" y="1691640"/>
            <a:ext cx="2102760" cy="776880"/>
          </a:xfrm>
          <a:prstGeom prst="roundRect">
            <a:avLst>
              <a:gd name="adj" fmla="val 9412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3136320" y="1691640"/>
            <a:ext cx="1956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Orchestrator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expense_orchestrator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5212080" y="192024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760720" y="1691640"/>
            <a:ext cx="2011320" cy="776880"/>
          </a:xfrm>
          <a:prstGeom prst="roundRect">
            <a:avLst>
              <a:gd name="adj" fmla="val 9412"/>
            </a:avLst>
          </a:prstGeom>
          <a:solidFill>
            <a:srgbClr val="2E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5833800" y="1691640"/>
            <a:ext cx="1865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Activity: 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3886200" y="24688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3063240" y="2926080"/>
            <a:ext cx="2102760" cy="776880"/>
          </a:xfrm>
          <a:prstGeom prst="roundRect">
            <a:avLst>
              <a:gd name="adj" fmla="val 9412"/>
            </a:avLst>
          </a:prstGeom>
          <a:solidFill>
            <a:srgbClr val="2E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3136320" y="2926080"/>
            <a:ext cx="1956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Activity: Notify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5760720" y="29260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5943600" y="3017520"/>
            <a:ext cx="51202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ourier New"/>
                <a:ea typeface="Courier New"/>
              </a:rPr>
              <a:t>Human Interaction Pattern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4A"/>
                </a:solidFill>
                <a:effectLst/>
                <a:uFillTx/>
                <a:latin typeface="Courier New"/>
                <a:ea typeface="Courier New"/>
              </a:rPr>
              <a:t>context.task_any([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4A"/>
                </a:solidFill>
                <a:effectLst/>
                <a:uFillTx/>
                <a:latin typeface="Courier New"/>
                <a:ea typeface="Courier New"/>
              </a:rPr>
              <a:t>  wait_for_external_event("ManagerDecision"),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4A"/>
                </a:solidFill>
                <a:effectLst/>
                <a:uFillTx/>
                <a:latin typeface="Courier New"/>
                <a:ea typeface="Courier New"/>
              </a:rPr>
              <a:t>  create_timer(deadline)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4A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548640" y="4023360"/>
            <a:ext cx="10881000" cy="214848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77240" y="42062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Key design decisions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777240" y="4572000"/>
            <a:ext cx="104238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Single orchestrator drives the whole pipeline — validate, branch on $100 threshold, race approval vs. timer, notify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Manager decision endpoint (POST /expenses/{id}/decision) raises the ManagerDecision external event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Durable timer + task_any() gives escalation "for free" — no extra polling logic needed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Timeout kept short (1 min) for local testing; production value + rationale documented in README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32004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Version B — Logic Apps + Service Bus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4864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Visual / declarative orchestration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57200" y="1280160"/>
            <a:ext cx="1737000" cy="63972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30280" y="128016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Queue: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expense-requests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2240280" y="14630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2697480" y="1280160"/>
            <a:ext cx="1737000" cy="639720"/>
          </a:xfrm>
          <a:prstGeom prst="roundRect">
            <a:avLst>
              <a:gd name="adj" fmla="val 11429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2770560" y="128016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Logic 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4480560" y="14630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937760" y="1280160"/>
            <a:ext cx="1737000" cy="639720"/>
          </a:xfrm>
          <a:prstGeom prst="roundRect">
            <a:avLst>
              <a:gd name="adj" fmla="val 11429"/>
            </a:avLst>
          </a:prstGeom>
          <a:solidFill>
            <a:srgbClr val="2E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5010840" y="1280160"/>
            <a:ext cx="159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Fn: 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3337560" y="1920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2468880" y="2240280"/>
            <a:ext cx="2194200" cy="548280"/>
          </a:xfrm>
          <a:prstGeom prst="roundRect">
            <a:avLst>
              <a:gd name="adj" fmla="val 13333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2541960" y="2240280"/>
            <a:ext cx="204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 $100: auto-approve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5532120" y="1920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4937760" y="2240280"/>
            <a:ext cx="2742840" cy="5482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5010840" y="2240280"/>
            <a:ext cx="259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≥ $100: HTTP Webhook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6080760" y="27889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5120640" y="3063240"/>
            <a:ext cx="2468520" cy="68544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5193720" y="3063240"/>
            <a:ext cx="2322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Manager approves/rejects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 times out → escalated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3337560" y="278892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6080760" y="374904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3017520" y="3977640"/>
            <a:ext cx="4205880" cy="594000"/>
          </a:xfrm>
          <a:prstGeom prst="roundRect">
            <a:avLst>
              <a:gd name="adj" fmla="val 12308"/>
            </a:avLst>
          </a:prstGeom>
          <a:solidFill>
            <a:srgbClr val="2E4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3090600" y="3977640"/>
            <a:ext cx="405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Topic: expense-outcomes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4892040" y="45720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457200" y="48463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530280" y="484632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Sub: approved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2331720" y="48463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D96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2404800" y="484632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Sub: rejected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0"/>
          <p:cNvSpPr/>
          <p:nvPr/>
        </p:nvSpPr>
        <p:spPr>
          <a:xfrm>
            <a:off x="4206240" y="48463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1"/>
          <p:cNvSpPr/>
          <p:nvPr/>
        </p:nvSpPr>
        <p:spPr>
          <a:xfrm>
            <a:off x="4279320" y="484632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Sub: escalated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2"/>
          <p:cNvSpPr/>
          <p:nvPr/>
        </p:nvSpPr>
        <p:spPr>
          <a:xfrm>
            <a:off x="7863840" y="1280160"/>
            <a:ext cx="3565800" cy="233136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3"/>
          <p:cNvSpPr/>
          <p:nvPr/>
        </p:nvSpPr>
        <p:spPr>
          <a:xfrm>
            <a:off x="8046720" y="1417320"/>
            <a:ext cx="3200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Manager approval design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HTTP Webhook action pauses the run and hands out a callback URL. A relay endpoint emails the manager approve/reject links; clicking one POSTs the decision back to the callback URL.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Timeout branch fires natively off the webhook action's TimedOut status — no separate polling loop.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8046720" y="3886200"/>
            <a:ext cx="3200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8171280" y="3704040"/>
            <a:ext cx="3030120" cy="292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48640" y="3657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Comparison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48640" y="841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Six dimensions, judged from direct build experience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548640" y="1371600"/>
            <a:ext cx="11063880" cy="45684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685800" y="1371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Dimension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3108960" y="137160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Durable Functions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7223760" y="137160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Logic Apps + Service Bus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548640" y="1828800"/>
            <a:ext cx="11063880" cy="75852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685800" y="182880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Development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3108960" y="182880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Fast; specific tracebacks led straight to root causes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7223760" y="182880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Designer was reliable; hand-authored JSON repeatedly wasn't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548640" y="2587680"/>
            <a:ext cx="11063880" cy="758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685800" y="258768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Testability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3108960" y="258768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Fully local via Azurite — no Azure needed to test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7223760" y="258768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No local emulator; only isolated Functions testable offline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548640" y="3346560"/>
            <a:ext cx="11063880" cy="75852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685800" y="334656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Error Handling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3108960" y="334656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Full Python stack traces pinpoint the exact line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7223760" y="334656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ARM errors were accurate but often pointed at symptoms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0"/>
          <p:cNvSpPr/>
          <p:nvPr/>
        </p:nvSpPr>
        <p:spPr>
          <a:xfrm>
            <a:off x="548640" y="4105800"/>
            <a:ext cx="11063880" cy="758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685800" y="410580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Human Interaction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3108960" y="410580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Native task_any() pattern — worked first try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3"/>
          <p:cNvSpPr/>
          <p:nvPr/>
        </p:nvSpPr>
        <p:spPr>
          <a:xfrm>
            <a:off x="7223760" y="410580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No native support; required a custom-built relay Function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4"/>
          <p:cNvSpPr/>
          <p:nvPr/>
        </p:nvSpPr>
        <p:spPr>
          <a:xfrm>
            <a:off x="548640" y="4864680"/>
            <a:ext cx="11063880" cy="75852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685800" y="486468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Observability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3108960" y="486468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statusQueryGetUri gives instant structured JSON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7"/>
          <p:cNvSpPr/>
          <p:nvPr/>
        </p:nvSpPr>
        <p:spPr>
          <a:xfrm>
            <a:off x="7223760" y="486468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Rich run history by design, not reachable in this build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548640" y="5623560"/>
            <a:ext cx="11063880" cy="758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9"/>
          <p:cNvSpPr/>
          <p:nvPr/>
        </p:nvSpPr>
        <p:spPr>
          <a:xfrm>
            <a:off x="685800" y="5623560"/>
            <a:ext cx="23770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Cost (100/day → 10k/day)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3108960" y="5623560"/>
            <a:ext cx="40230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9C97"/>
                </a:solidFill>
                <a:effectLst/>
                <a:uFillTx/>
                <a:latin typeface="Arial"/>
                <a:ea typeface="Arial"/>
              </a:rPr>
              <a:t>~$0-2/mo → ~$5-10/mo (within free grant)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1"/>
          <p:cNvSpPr/>
          <p:nvPr/>
        </p:nvSpPr>
        <p:spPr>
          <a:xfrm>
            <a:off x="7223760" y="5623560"/>
            <a:ext cx="420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791F"/>
                </a:solidFill>
                <a:effectLst/>
                <a:uFillTx/>
                <a:latin typeface="Arial"/>
                <a:ea typeface="Arial"/>
              </a:rPr>
              <a:t>~$11/mo → ~$100/mo (linear per-action billing)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Recommendation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548640" y="8686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For this workflow, in production, today: Durable Functions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548640" y="1371600"/>
            <a:ext cx="5348880" cy="3931560"/>
          </a:xfrm>
          <a:prstGeom prst="roundRect">
            <a:avLst>
              <a:gd name="adj" fmla="val 186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777240" y="153612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A33D"/>
                </a:solidFill>
                <a:effectLst/>
                <a:uFillTx/>
                <a:latin typeface="Arial"/>
                <a:ea typeface="Arial"/>
              </a:rPr>
              <a:t>Choose Durable Functions when…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777240" y="2057400"/>
            <a:ext cx="4891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E3E9F2"/>
                </a:solidFill>
                <a:effectLst/>
                <a:uFillTx/>
                <a:latin typeface="Arial"/>
                <a:ea typeface="Arial"/>
              </a:rPr>
              <a:t>•  Local, offline testability matters — verified all 6 scenarios without  touching Azure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E3E9F2"/>
                </a:solidFill>
                <a:effectLst/>
                <a:uFillTx/>
                <a:latin typeface="Arial"/>
                <a:ea typeface="Arial"/>
              </a:rPr>
              <a:t>•  The workflow needs a real wait-for-human-or-timeout pattern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3E9F2"/>
                </a:solidFill>
                <a:effectLst/>
                <a:uFillTx/>
                <a:latin typeface="Arial"/>
                <a:ea typeface="Arial"/>
              </a:rPr>
              <a:t>•  Cost predictability at scale matters (stayed ~10x cheaper at 10k/day in our estimate)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6263640" y="1371600"/>
            <a:ext cx="5348880" cy="3931560"/>
          </a:xfrm>
          <a:prstGeom prst="roundRect">
            <a:avLst>
              <a:gd name="adj" fmla="val 1860"/>
            </a:avLst>
          </a:prstGeom>
          <a:solidFill>
            <a:srgbClr val="179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6492240" y="153612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Choose Logic Apps when…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6492240" y="2057400"/>
            <a:ext cx="4891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0D3D3B"/>
                </a:solidFill>
                <a:effectLst/>
                <a:uFillTx/>
                <a:latin typeface="Arial"/>
                <a:ea typeface="Arial"/>
              </a:rPr>
              <a:t>•  Non-developers need to read or adjust the logic visually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0D3D3B"/>
                </a:solidFill>
                <a:effectLst/>
                <a:uFillTx/>
                <a:latin typeface="Arial"/>
                <a:ea typeface="Arial"/>
              </a:rPr>
              <a:t>•  The workflow leans heavily on pre-built SaaS connectors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D3D3B"/>
                </a:solidFill>
                <a:effectLst/>
                <a:uFillTx/>
                <a:latin typeface="Arial"/>
                <a:ea typeface="Arial"/>
              </a:rPr>
              <a:t>•  The team stays inside the designer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CST8917 — Expense Approval Workflow Comparison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5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48640" y="3657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Lessons Learned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548640" y="1188720"/>
            <a:ext cx="11063880" cy="2468520"/>
          </a:xfrm>
          <a:prstGeom prst="roundRect">
            <a:avLst>
              <a:gd name="adj" fmla="val 2963"/>
            </a:avLst>
          </a:prstGeom>
          <a:solidFill>
            <a:srgbClr val="F4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822960" y="1353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What surprised 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822960" y="178308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•  The “visual/declarative” platform was harder to get right by hand than the “code-first” 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4A"/>
                </a:solidFill>
                <a:effectLst/>
                <a:uFillTx/>
                <a:latin typeface="Arial"/>
                <a:ea typeface="Arial"/>
              </a:rPr>
              <a:t>•  Durable Functions' human-interaction primitive worked correctly on the first real test.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548640" y="3794760"/>
            <a:ext cx="11063880" cy="2422800"/>
          </a:xfrm>
          <a:prstGeom prst="roundRect">
            <a:avLst>
              <a:gd name="adj" fmla="val 3019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822960" y="3959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A33D"/>
                </a:solidFill>
                <a:effectLst/>
                <a:uFillTx/>
                <a:latin typeface="Arial"/>
                <a:ea typeface="Arial"/>
              </a:rPr>
              <a:t>What I would do differently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822960" y="4389120"/>
            <a:ext cx="10515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E3E9F2"/>
                </a:solidFill>
                <a:effectLst/>
                <a:uFillTx/>
                <a:latin typeface="Arial"/>
                <a:ea typeface="Arial"/>
              </a:rPr>
              <a:t>• Start Version B earlier and use the Logic App designer from the beginning, since implementing it manually was much more difficult than expected.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822960" y="274320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822960" y="34290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2026-08-09T21:30:03Z</dcterms:created>
  <dc:creator>PptxGenJS</dc:creator>
  <dc:description/>
  <dc:language>en-US</dc:language>
  <cp:lastModifiedBy/>
  <dcterms:modified xsi:type="dcterms:W3CDTF">2026-08-13T03:07:36Z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